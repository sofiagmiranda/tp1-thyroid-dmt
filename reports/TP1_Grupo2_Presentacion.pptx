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7ad20fc4-2f7b-5974-f10d-bce9bdc6f527}">
          <p14:sldIdLst>
            <p14:sldId id="256"/>
          </p14:sldIdLst>
        </p14:section>
        <p14:section name="Problema y datos" id="{c6162d96-fbd3-fd3c-bd3a-f7786de36c6a}">
          <p14:sldIdLst>
            <p14:sldId id="257"/>
            <p14:sldId id="258"/>
          </p14:sldIdLst>
        </p14:section>
        <p14:section name="EDA" id="{48350ffc-2309-521e-2ebd-32f1d326083f}">
          <p14:sldIdLst>
            <p14:sldId id="259"/>
            <p14:sldId id="260"/>
            <p14:sldId id="261"/>
            <p14:sldId id="262"/>
          </p14:sldIdLst>
        </p14:section>
        <p14:section name="Preparación" id="{45991deb-d8f1-30b5-bd19-3690964054e3}">
          <p14:sldIdLst>
            <p14:sldId id="263"/>
            <p14:sldId id="264"/>
          </p14:sldIdLst>
        </p14:section>
        <p14:section name="Modelos" id="{78dc3025-0d0b-deba-17fd-264711bb0fb1}">
          <p14:sldIdLst>
            <p14:sldId id="265"/>
            <p14:sldId id="266"/>
          </p14:sldIdLst>
        </p14:section>
        <p14:section name="Cierre" id="{3a54b6a6-6c45-a49a-5579-726da887f335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B1F2A"/>
                </a:solidFill>
                <a:latin typeface="+mn-lt"/>
              </a:rPr>
              <a:t>% de malignos según factor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Sí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Family_History</c:v>
                  </c:pt>
                  <c:pt idx="1">
                    <c:v>Radiation_Exposure</c:v>
                  </c:pt>
                  <c:pt idx="2">
                    <c:v>Iodine_Deficiency</c:v>
                  </c:pt>
                  <c:pt idx="3">
                    <c:v>Smoking</c:v>
                  </c:pt>
                  <c:pt idx="4">
                    <c:v>Obesity</c:v>
                  </c:pt>
                  <c:pt idx="5">
                    <c:v>Diabetes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32.4</c:v>
                </c:pt>
                <c:pt idx="1">
                  <c:v>32.2</c:v>
                </c:pt>
                <c:pt idx="2">
                  <c:v>30.5</c:v>
                </c:pt>
                <c:pt idx="3">
                  <c:v>23.3</c:v>
                </c:pt>
                <c:pt idx="4">
                  <c:v>23.2</c:v>
                </c:pt>
                <c:pt idx="5">
                  <c:v>23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Family_History</c:v>
                  </c:pt>
                  <c:pt idx="1">
                    <c:v>Radiation_Exposure</c:v>
                  </c:pt>
                  <c:pt idx="2">
                    <c:v>Iodine_Deficiency</c:v>
                  </c:pt>
                  <c:pt idx="3">
                    <c:v>Smoking</c:v>
                  </c:pt>
                  <c:pt idx="4">
                    <c:v>Obesity</c:v>
                  </c:pt>
                  <c:pt idx="5">
                    <c:v>Diabetes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19.4</c:v>
                </c:pt>
                <c:pt idx="1">
                  <c:v>21.7</c:v>
                </c:pt>
                <c:pt idx="2">
                  <c:v>20.9</c:v>
                </c:pt>
                <c:pt idx="3">
                  <c:v>23.3</c:v>
                </c:pt>
                <c:pt idx="4">
                  <c:v>23.3</c:v>
                </c:pt>
                <c:pt idx="5">
                  <c:v>23.3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B1F2A"/>
                </a:solidFill>
                <a:latin typeface="+mn-lt"/>
              </a:rPr>
              <a:t>Diagnóstico según riesgo precalculado</a:t>
            </a:r>
          </a:p>
        </c:rich>
      </c:tx>
      <c:layout/>
      <c:overlay val="0"/>
    </c:title>
    <c:autoTitleDeleted val="0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Benign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Low</c:v>
                  </c:pt>
                  <c:pt idx="1">
                    <c:v>Medium</c:v>
                  </c:pt>
                  <c:pt idx="2">
                    <c:v>High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85</c:v>
                </c:pt>
                <c:pt idx="1">
                  <c:v>84.9</c:v>
                </c:pt>
                <c:pt idx="2">
                  <c:v>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Malignant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Low</c:v>
                  </c:pt>
                  <c:pt idx="1">
                    <c:v>Medium</c:v>
                  </c:pt>
                  <c:pt idx="2">
                    <c:v>High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15</c:v>
                </c:pt>
                <c:pt idx="1">
                  <c:v>15.1</c:v>
                </c:pt>
                <c:pt idx="2">
                  <c:v>70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B1F2A"/>
                </a:solidFill>
                <a:latin typeface="+mn-lt"/>
              </a:rPr>
              <a:t>Validación (31 904 pacientes)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0F6E7A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Dummy estratificado</c:v>
                  </c:pt>
                  <c:pt idx="1">
                    <c:v>Regla Risk = High</c:v>
                  </c:pt>
                  <c:pt idx="2">
                    <c:v>Regresión Logística</c:v>
                  </c:pt>
                  <c:pt idx="3">
                    <c:v>Random Forest</c:v>
                  </c:pt>
                  <c:pt idx="4">
                    <c:v>HistGradientBoosting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0.496</c:v>
                </c:pt>
                <c:pt idx="1">
                  <c:v>0.701</c:v>
                </c:pt>
                <c:pt idx="2">
                  <c:v>0.67</c:v>
                </c:pt>
                <c:pt idx="3">
                  <c:v>0.697</c:v>
                </c:pt>
                <c:pt idx="4">
                  <c:v>0.7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PR-AUC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Dummy estratificado</c:v>
                  </c:pt>
                  <c:pt idx="1">
                    <c:v>Regla Risk = High</c:v>
                  </c:pt>
                  <c:pt idx="2">
                    <c:v>Regresión Logística</c:v>
                  </c:pt>
                  <c:pt idx="3">
                    <c:v>Random Forest</c:v>
                  </c:pt>
                  <c:pt idx="4">
                    <c:v>HistGradientBoosting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0.231</c:v>
                </c:pt>
                <c:pt idx="1">
                  <c:v>0.465</c:v>
                </c:pt>
                <c:pt idx="2">
                  <c:v>0.435</c:v>
                </c:pt>
                <c:pt idx="3">
                  <c:v>0.499</c:v>
                </c:pt>
                <c:pt idx="4">
                  <c:v>0.5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Luis. Presentación del grupo y del tema. Duración objetivo: 10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Luis. No buscamos reemplazar al médico: buscamos una herramienta de triaje. Trabajamos con una sola variable objetivo: Diagnosis.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Luis. Calidad formal impecable, pero veremos que el problema real del dataset es de validez, no de limpieza.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Luis. Distinguir: los datos muestran curvas superpuestas; nuestra interpretación es que el generador las creó independientes del diagnóstico.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Luis. Los tres factores coinciden con la literatura (antecedente familiar, radiación, yodo). Pero el efecto es pequeño.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Luis. Esta es la decisión técnica más importante del TP1. Además, Medium no aporta nada distinto de Low: es una inconsistencia del dataset.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Sofía. Documentamos esto como la limitación principal del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Sofía. Ninguna decisión es mecánica: no imputamos porque no hay faltantes, no quitamos outliers porque no existen y no corregimos hormonas porque no tenemos criterio clínico.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Sofía. Tres medidas contra leakage: split antes de transformar, Pipeline, exclusión del puntaje de riesgo; y el test no se toca hasta el TF1.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Sofía. Comparamos con un Dummy (piso) y con la regla del dominio (referencia exigente). Los árboles reproducen la regla sin usar la variable de riesgo.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Sofía. Nuestro criterio inicial (recall &gt; 90 %) no era realista; en el TF1 elegiremos el umbral con un costo explícito FN vs FP.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Sofía. Cerrar con lo que no podemos concluir y con el plan. Mencionar uso de IA declarado en el informe.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CC209 · Grupo 2 · TP1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¿Se puede predecir un diagnóstico maligno de cáncer de tiroides?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Trabajo Parcial (TP1) · CC209 Data Mining Tools · NRC 17496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Docente: Carlos Fernando Montoya Cubas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Grupo 2: Luis David Gomez Rubina · Sofía Miranda Cárdenas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Problema: priorizar estudios confirmatorios</a:t>
            </a:r>
            <a:endParaRPr lang="en-US" sz="2600" dirty="0"/>
          </a:p>
        </p:txBody>
      </p:sp>
      <p:sp>
        <p:nvSpPr>
          <p:cNvPr id="3" name="pregunta"/>
          <p:cNvSpPr/>
          <p:nvPr/>
        </p:nvSpPr>
        <p:spPr>
          <a:xfrm>
            <a:off x="457200" y="1143000"/>
            <a:ext cx="3931920" cy="2834640"/>
          </a:xfrm>
          <a:prstGeom prst="roundRect">
            <a:avLst>
              <a:gd name="adj" fmla="val 258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PREGUNTA PRINCIPAL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3474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¿Con qué capacidad se distingue un diagnóstico maligno de uno benigno a partir de datos demográficos, antecedentes, hormonas (TSH, T3, T4) y tamaño del nódulo, y qué factores aportan esa capacidad?</a:t>
            </a:r>
            <a:endParaRPr lang="en-US" sz="1600" dirty="0"/>
          </a:p>
        </p:txBody>
      </p:sp>
      <p:sp>
        <p:nvSpPr>
          <p:cNvPr id="6" name="item0"/>
          <p:cNvSpPr/>
          <p:nvPr/>
        </p:nvSpPr>
        <p:spPr>
          <a:xfrm>
            <a:off x="4663440" y="1143000"/>
            <a:ext cx="402336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1978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Unidad de análisis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Un paciente (Patient_ID)</a:t>
            </a:r>
            <a:endParaRPr lang="en-US" sz="1200" dirty="0"/>
          </a:p>
        </p:txBody>
      </p:sp>
      <p:sp>
        <p:nvSpPr>
          <p:cNvPr id="9" name="item1"/>
          <p:cNvSpPr/>
          <p:nvPr/>
        </p:nvSpPr>
        <p:spPr>
          <a:xfrm>
            <a:off x="4663440" y="1874520"/>
            <a:ext cx="402336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92938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Tipo de problema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Clasificación binaria: Benign vs Malignant</a:t>
            </a:r>
            <a:endParaRPr lang="en-US" sz="1200" dirty="0"/>
          </a:p>
        </p:txBody>
      </p:sp>
      <p:sp>
        <p:nvSpPr>
          <p:cNvPr id="12" name="item2"/>
          <p:cNvSpPr/>
          <p:nvPr/>
        </p:nvSpPr>
        <p:spPr>
          <a:xfrm>
            <a:off x="4663440" y="2606040"/>
            <a:ext cx="402336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66090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Utilidad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880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Triaje: ordenar pacientes por probabilidad de malignidad</a:t>
            </a:r>
            <a:endParaRPr lang="en-US" sz="1200" dirty="0"/>
          </a:p>
        </p:txBody>
      </p:sp>
      <p:sp>
        <p:nvSpPr>
          <p:cNvPr id="15" name="item3"/>
          <p:cNvSpPr/>
          <p:nvPr/>
        </p:nvSpPr>
        <p:spPr>
          <a:xfrm>
            <a:off x="4663440" y="3337560"/>
            <a:ext cx="4023360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33924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Criterio de éxito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3611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Superar al baseline (ROC-AUC, PR-AUC) y mejorar el recall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Dataset: grande, completo y desbalanceado</a:t>
            </a:r>
            <a:endParaRPr lang="en-US" sz="2600" dirty="0"/>
          </a:p>
        </p:txBody>
      </p:sp>
      <p:sp>
        <p:nvSpPr>
          <p:cNvPr id="3" name="stat0"/>
          <p:cNvSpPr/>
          <p:nvPr/>
        </p:nvSpPr>
        <p:spPr>
          <a:xfrm>
            <a:off x="457200" y="1188720"/>
            <a:ext cx="19202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2588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212 691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0116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pacientes</a:t>
            </a:r>
            <a:endParaRPr lang="en-US" sz="1200" dirty="0"/>
          </a:p>
        </p:txBody>
      </p:sp>
      <p:sp>
        <p:nvSpPr>
          <p:cNvPr id="6" name="stat1"/>
          <p:cNvSpPr/>
          <p:nvPr/>
        </p:nvSpPr>
        <p:spPr>
          <a:xfrm>
            <a:off x="2560320" y="1188720"/>
            <a:ext cx="19202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97480" y="132588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0116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variables (5 numéricas, 9 categóricas)</a:t>
            </a:r>
            <a:endParaRPr lang="en-US" sz="1200" dirty="0"/>
          </a:p>
        </p:txBody>
      </p:sp>
      <p:sp>
        <p:nvSpPr>
          <p:cNvPr id="9" name="stat2"/>
          <p:cNvSpPr/>
          <p:nvPr/>
        </p:nvSpPr>
        <p:spPr>
          <a:xfrm>
            <a:off x="4663440" y="1188720"/>
            <a:ext cx="19202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32588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23.3 %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0116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diagnósticos malignos</a:t>
            </a:r>
            <a:endParaRPr lang="en-US" sz="1200" dirty="0"/>
          </a:p>
        </p:txBody>
      </p:sp>
      <p:sp>
        <p:nvSpPr>
          <p:cNvPr id="12" name="stat3"/>
          <p:cNvSpPr/>
          <p:nvPr/>
        </p:nvSpPr>
        <p:spPr>
          <a:xfrm>
            <a:off x="6766560" y="1188720"/>
            <a:ext cx="19202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03720" y="132588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0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0116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faltantes / duplicados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8346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Fuente: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Kaggle – Thyroid Cancer Risk Dataset (B. Chirumamilla, 2025), uso académico.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Objetivo: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Diagnosis (Benign / Malignant). Desbalance 3.3 : 1 → métricas centradas en Malignant.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Excluidas: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Patient_ID (identificador) y Thyroid_Cancer_Risk (posible fuga, ver más adelante).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Hormonas y nódulo no distinguen el diagnóstico</a:t>
            </a:r>
            <a:endParaRPr lang="en-US" sz="2600" dirty="0"/>
          </a:p>
        </p:txBody>
      </p:sp>
      <p:pic>
        <p:nvPicPr>
          <p:cNvPr id="3" name="histogramas" descr="/home/claude/tp1_thyroid/reports/figures/02_numericas_por_diagnosti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051560"/>
            <a:ext cx="6949440" cy="189730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035808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Datos: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distribuciones uniformes e idénticas en benignos y malignos; diferencias de medias de centésimas (p &gt; 0.2, Mann-Whitney).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Interpretación: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contradice la evidencia clínica → primera señal de datos sintéticos.</a:t>
            </a:r>
            <a:endParaRPr lang="en-US" sz="1400" dirty="0"/>
          </a:p>
        </p:txBody>
      </p:sp>
      <p:sp>
        <p:nvSpPr>
          <p:cNvPr id="5" name="takeaway"/>
          <p:cNvSpPr/>
          <p:nvPr/>
        </p:nvSpPr>
        <p:spPr>
          <a:xfrm>
            <a:off x="457200" y="4160520"/>
            <a:ext cx="822960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41605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En este dataset, TSH, T3, T4, nódulo y edad no aportan información sobre el diagnóstico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Solo 3 antecedentes y el origen pesan</a:t>
            </a:r>
            <a:endParaRPr lang="en-US" sz="2600" dirty="0"/>
          </a:p>
        </p:txBody>
      </p:sp>
      <p:graphicFrame>
        <p:nvGraphicFramePr>
          <p:cNvPr id="3" name="factores" descr=""/>
          <p:cNvGraphicFramePr/>
          <p:nvPr/>
        </p:nvGraphicFramePr>
        <p:xfrm>
          <a:off x="457200" y="1051560"/>
          <a:ext cx="49377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grupos"/>
          <p:cNvSpPr/>
          <p:nvPr/>
        </p:nvSpPr>
        <p:spPr>
          <a:xfrm>
            <a:off x="5669280" y="1051560"/>
            <a:ext cx="3017520" cy="3017520"/>
          </a:xfrm>
          <a:prstGeom prst="roundRect">
            <a:avLst>
              <a:gd name="adj" fmla="val 24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852160" y="11887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Diferencias por grupo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852160" y="1554480"/>
            <a:ext cx="2651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India: 32.9 % malignos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Etnia asiática: 33.5 %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Resto de países: 20–21 %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Sexo, tabaquismo, obesidad y diabetes: sin efecto (≈ 23.3 %)</a:t>
            </a:r>
            <a:endParaRPr lang="en-US" sz="1300" dirty="0"/>
          </a:p>
        </p:txBody>
      </p:sp>
      <p:sp>
        <p:nvSpPr>
          <p:cNvPr id="7" name="takeaway"/>
          <p:cNvSpPr/>
          <p:nvPr/>
        </p:nvSpPr>
        <p:spPr>
          <a:xfrm>
            <a:off x="457200" y="4160520"/>
            <a:ext cx="822960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41605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Señal real pero débil: V de Cramér ≤ 0.14 incluso en los factores con efecto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Thyroid_Cancer_Risk: un atajo que excluimos</a:t>
            </a:r>
            <a:endParaRPr lang="en-US" sz="2600" dirty="0"/>
          </a:p>
        </p:txBody>
      </p:sp>
      <p:graphicFrame>
        <p:nvGraphicFramePr>
          <p:cNvPr id="3" name="riesgo" descr=""/>
          <p:cNvGraphicFramePr/>
          <p:nvPr/>
        </p:nvGraphicFramePr>
        <p:xfrm>
          <a:off x="457200" y="1051560"/>
          <a:ext cx="45720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303520" y="1097280"/>
            <a:ext cx="3383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Datos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High → 70 % malignos; Low y Medium son idénticos (15 %).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Los High concentran los factores con efecto (63 % con antecedente familiar vs 24 %).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Decisión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Puntaje de origen desconocido y derivado de los mismos factores → riesgo de fuga.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Se excluye como predictor y se usa como baseline: «High ⇒ Malignant».</a:t>
            </a:r>
            <a:endParaRPr lang="en-US" sz="1300" dirty="0"/>
          </a:p>
        </p:txBody>
      </p:sp>
      <p:sp>
        <p:nvSpPr>
          <p:cNvPr id="5" name="takeaway"/>
          <p:cNvSpPr/>
          <p:nvPr/>
        </p:nvSpPr>
        <p:spPr>
          <a:xfrm>
            <a:off x="457200" y="4160520"/>
            <a:ext cx="822960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41605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No sabemos si se calculó antes o después del diagnóstico: usarlo sería hacer trampa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Anomalías: el dataset es sintético</a:t>
            </a:r>
            <a:endParaRPr lang="en-US" sz="2600" dirty="0"/>
          </a:p>
        </p:txBody>
      </p:sp>
      <p:pic>
        <p:nvPicPr>
          <p:cNvPr id="3" name="pais_etnia" descr="/home/claude/tp1_thyroid/reports/figures/07_pais_vs_etn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206240" cy="2434286"/>
          </a:xfrm>
          <a:prstGeom prst="rect">
            <a:avLst/>
          </a:prstGeom>
        </p:spPr>
      </p:pic>
      <p:sp>
        <p:nvSpPr>
          <p:cNvPr id="4" name="anom0"/>
          <p:cNvSpPr/>
          <p:nvPr/>
        </p:nvSpPr>
        <p:spPr>
          <a:xfrm>
            <a:off x="4937760" y="1051560"/>
            <a:ext cx="37490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120640" y="11430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Misma etnia en todos los países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120640" y="143560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≈ 30 % Caucasian y 20 % African también en Nigeria y Japón</a:t>
            </a:r>
            <a:endParaRPr lang="en-US" sz="1200" dirty="0"/>
          </a:p>
        </p:txBody>
      </p:sp>
      <p:sp>
        <p:nvSpPr>
          <p:cNvPr id="7" name="anom1"/>
          <p:cNvSpPr/>
          <p:nvPr/>
        </p:nvSpPr>
        <p:spPr>
          <a:xfrm>
            <a:off x="4937760" y="2057400"/>
            <a:ext cx="37490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120640" y="21488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Hormonas independientes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120640" y="244144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Correlación TSH–T4 = 0.00 (en la realidad están relacionadas)</a:t>
            </a:r>
            <a:endParaRPr lang="en-US" sz="1200" dirty="0"/>
          </a:p>
        </p:txBody>
      </p:sp>
      <p:sp>
        <p:nvSpPr>
          <p:cNvPr id="10" name="anom2"/>
          <p:cNvSpPr/>
          <p:nvPr/>
        </p:nvSpPr>
        <p:spPr>
          <a:xfrm>
            <a:off x="4937760" y="3063240"/>
            <a:ext cx="37490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120640" y="31546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Proporciones redondas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120640" y="344728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60/40, 70/30, 85/15, 80/20 en las binarias</a:t>
            </a:r>
            <a:endParaRPr lang="en-US" sz="1200" dirty="0"/>
          </a:p>
        </p:txBody>
      </p:sp>
      <p:sp>
        <p:nvSpPr>
          <p:cNvPr id="13" name="takeaway"/>
          <p:cNvSpPr/>
          <p:nvPr/>
        </p:nvSpPr>
        <p:spPr>
          <a:xfrm>
            <a:off x="457200" y="4206240"/>
            <a:ext cx="822960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42062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Conclusiones válidas para este dataset; no extrapolables a pacientes reales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Calidad: datos limpios, decisiones justificadas</a:t>
            </a:r>
            <a:endParaRPr lang="en-US" sz="2600" dirty="0"/>
          </a:p>
        </p:txBody>
      </p:sp>
      <p:graphicFrame>
        <p:nvGraphicFramePr>
          <p:cNvPr id="9" name="calida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834640"/>
                <a:gridCol w="3383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Aspecto</a:t>
                      </a:r>
                      <a:endParaRPr lang="en-US" sz="13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2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Hallazgo</a:t>
                      </a:r>
                      <a:endParaRPr lang="en-US" sz="13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2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Decisión</a:t>
                      </a:r>
                      <a:endParaRPr lang="en-US" sz="13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2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Faltantes / duplicados</a:t>
                      </a:r>
                      <a:endParaRPr lang="en-US" sz="13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0 / 0</a:t>
                      </a:r>
                      <a:endParaRPr lang="en-US" sz="13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Nada que eliminar; SimpleImputer en el Pipeline por robustez</a:t>
                      </a:r>
                      <a:endParaRPr lang="en-US" sz="13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Categorías inconsistentes</a:t>
                      </a:r>
                      <a:endParaRPr lang="en-US" sz="13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Ninguna</a:t>
                      </a:r>
                      <a:endParaRPr lang="en-US" sz="13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Solo strip() preventivo</a:t>
                      </a:r>
                      <a:endParaRPr lang="en-US" sz="13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Outliers (IQR)</a:t>
                      </a:r>
                      <a:endParaRPr lang="en-US" sz="13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0; todo en rango válido</a:t>
                      </a:r>
                      <a:endParaRPr lang="en-US" sz="13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No se eliminan: valores plausibles</a:t>
                      </a:r>
                      <a:endParaRPr lang="en-US" sz="13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Reglas clínicas</a:t>
                      </a:r>
                      <a:endParaRPr lang="en-US" sz="13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58.5 % TSH fuera de referencia; 7.3 % TSH y T4 altas</a:t>
                      </a:r>
                      <a:endParaRPr lang="en-US" sz="13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Se documentan como riesgo; sin criterio clínico para corregir</a:t>
                      </a:r>
                      <a:endParaRPr lang="en-US" sz="13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Variables</a:t>
                      </a:r>
                      <a:endParaRPr lang="en-US" sz="13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ID y puntaje de riesgo</a:t>
                      </a:r>
                      <a:endParaRPr lang="en-US" sz="13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Se excluyen (ruido / fuga)</a:t>
                      </a:r>
                      <a:endParaRPr lang="en-US" sz="13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akeaway"/>
          <p:cNvSpPr/>
          <p:nvPr/>
        </p:nvSpPr>
        <p:spPr>
          <a:xfrm>
            <a:off x="457200" y="4160520"/>
            <a:ext cx="822960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41605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El problema no es de limpieza sino de validez: poca señal y variables generadas al azar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Split estratificado y Pipeline sin fuga</a:t>
            </a:r>
            <a:endParaRPr lang="en-US" sz="2600" dirty="0"/>
          </a:p>
        </p:txBody>
      </p:sp>
      <p:sp>
        <p:nvSpPr>
          <p:cNvPr id="3" name="split_Train 70 %"/>
          <p:cNvSpPr/>
          <p:nvPr/>
        </p:nvSpPr>
        <p:spPr>
          <a:xfrm>
            <a:off x="457200" y="1097280"/>
            <a:ext cx="5760720" cy="685800"/>
          </a:xfrm>
          <a:prstGeom prst="rect">
            <a:avLst/>
          </a:prstGeom>
          <a:solidFill>
            <a:schemeClr val="accent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Train 70 %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148 883</a:t>
            </a:r>
            <a:endParaRPr lang="en-US" sz="1200" dirty="0"/>
          </a:p>
        </p:txBody>
      </p:sp>
      <p:sp>
        <p:nvSpPr>
          <p:cNvPr id="5" name="split_Val 15 %"/>
          <p:cNvSpPr/>
          <p:nvPr/>
        </p:nvSpPr>
        <p:spPr>
          <a:xfrm>
            <a:off x="6217920" y="1097280"/>
            <a:ext cx="1234440" cy="685800"/>
          </a:xfrm>
          <a:prstGeom prst="rect">
            <a:avLst/>
          </a:prstGeom>
          <a:solidFill>
            <a:schemeClr val="accent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0" y="1097280"/>
            <a:ext cx="1234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Val 15 %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31 904</a:t>
            </a:r>
            <a:endParaRPr lang="en-US" sz="1200" dirty="0"/>
          </a:p>
        </p:txBody>
      </p:sp>
      <p:sp>
        <p:nvSpPr>
          <p:cNvPr id="7" name="split_Test 15 %"/>
          <p:cNvSpPr/>
          <p:nvPr/>
        </p:nvSpPr>
        <p:spPr>
          <a:xfrm>
            <a:off x="7452360" y="1097280"/>
            <a:ext cx="1234440" cy="685800"/>
          </a:xfrm>
          <a:prstGeom prst="rect">
            <a:avLst/>
          </a:prstGeom>
          <a:solidFill>
            <a:schemeClr val="accent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52360" y="1097280"/>
            <a:ext cx="1234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Test 15 %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31 904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847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Estratificado (23.27 % malignos en cada parte) · random_state = 42 · CV 5 folds sobre train · Test reservado para el TF1</a:t>
            </a:r>
            <a:endParaRPr lang="en-US" sz="1200" dirty="0"/>
          </a:p>
        </p:txBody>
      </p:sp>
      <p:sp>
        <p:nvSpPr>
          <p:cNvPr id="10" name="step0"/>
          <p:cNvSpPr/>
          <p:nvPr/>
        </p:nvSpPr>
        <p:spPr>
          <a:xfrm>
            <a:off x="457200" y="2331720"/>
            <a:ext cx="1828800" cy="118872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2423160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Datos de train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2761488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fit() solo aquí</a:t>
            </a:r>
            <a:endParaRPr lang="en-US" sz="1200" dirty="0"/>
          </a:p>
        </p:txBody>
      </p:sp>
      <p:sp>
        <p:nvSpPr>
          <p:cNvPr id="13" name="arrow0"/>
          <p:cNvSpPr/>
          <p:nvPr/>
        </p:nvSpPr>
        <p:spPr>
          <a:xfrm>
            <a:off x="2322576" y="2788920"/>
            <a:ext cx="256032" cy="27432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step1"/>
          <p:cNvSpPr/>
          <p:nvPr/>
        </p:nvSpPr>
        <p:spPr>
          <a:xfrm>
            <a:off x="2606040" y="2331720"/>
            <a:ext cx="182880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715768" y="2423160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Numéricas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2715768" y="2761488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Imputer(mediana) + StandardScaler*</a:t>
            </a:r>
            <a:endParaRPr lang="en-US" sz="1200" dirty="0"/>
          </a:p>
        </p:txBody>
      </p:sp>
      <p:sp>
        <p:nvSpPr>
          <p:cNvPr id="17" name="arrow1"/>
          <p:cNvSpPr/>
          <p:nvPr/>
        </p:nvSpPr>
        <p:spPr>
          <a:xfrm>
            <a:off x="4471416" y="2788920"/>
            <a:ext cx="256032" cy="27432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8" name="step2"/>
          <p:cNvSpPr/>
          <p:nvPr/>
        </p:nvSpPr>
        <p:spPr>
          <a:xfrm>
            <a:off x="4754880" y="2331720"/>
            <a:ext cx="182880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64608" y="2423160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Categóricas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864608" y="2761488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Imputer(moda) + OneHotEncoder</a:t>
            </a:r>
            <a:endParaRPr lang="en-US" sz="1200" dirty="0"/>
          </a:p>
        </p:txBody>
      </p:sp>
      <p:sp>
        <p:nvSpPr>
          <p:cNvPr id="21" name="arrow2"/>
          <p:cNvSpPr/>
          <p:nvPr/>
        </p:nvSpPr>
        <p:spPr>
          <a:xfrm>
            <a:off x="6620256" y="2788920"/>
            <a:ext cx="256032" cy="27432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2" name="step3"/>
          <p:cNvSpPr/>
          <p:nvPr/>
        </p:nvSpPr>
        <p:spPr>
          <a:xfrm>
            <a:off x="6903720" y="2331720"/>
            <a:ext cx="182880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013448" y="2423160"/>
            <a:ext cx="1609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Modelo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013448" y="2761488"/>
            <a:ext cx="16093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class_weight = balanced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3611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* Escalado solo para Regresión Logística. Pipeline + ColumnTransformer (scikit-learn) → 27 variables. Reproducible con python -m src.train</a:t>
            </a:r>
            <a:endParaRPr lang="en-US" sz="1200" dirty="0"/>
          </a:p>
        </p:txBody>
      </p:sp>
      <p:sp>
        <p:nvSpPr>
          <p:cNvPr id="26" name="takeaway"/>
          <p:cNvSpPr/>
          <p:nvPr/>
        </p:nvSpPr>
        <p:spPr>
          <a:xfrm>
            <a:off x="457200" y="4160520"/>
            <a:ext cx="822960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0080" y="41605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Toda transformación con parámetros se aprende solo con train, también dentro de cada fold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modelos igualan a la regla, no la superan</a:t>
            </a:r>
            <a:endParaRPr lang="en-US" sz="2600" dirty="0"/>
          </a:p>
        </p:txBody>
      </p:sp>
      <p:graphicFrame>
        <p:nvGraphicFramePr>
          <p:cNvPr id="3" name="modelos" descr=""/>
          <p:cNvGraphicFramePr/>
          <p:nvPr/>
        </p:nvGraphicFramePr>
        <p:xfrm>
          <a:off x="457200" y="1051560"/>
          <a:ext cx="51206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lectura"/>
          <p:cNvSpPr/>
          <p:nvPr/>
        </p:nvSpPr>
        <p:spPr>
          <a:xfrm>
            <a:off x="5852160" y="1051560"/>
            <a:ext cx="2834640" cy="301752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989320" y="1143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HistGradientBoosting (umbral 0.5)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89320" y="15087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0.45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949440" y="15087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recall Malignant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989320" y="2130552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0.70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6949440" y="213055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precisión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989320" y="2752344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0.94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6949440" y="2752344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especificidad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989320" y="34290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Predicciones 100 % iguales a «Risk = High»</a:t>
            </a:r>
            <a:endParaRPr lang="en-US" sz="1200" dirty="0"/>
          </a:p>
        </p:txBody>
      </p:sp>
      <p:sp>
        <p:nvSpPr>
          <p:cNvPr id="13" name="takeaway"/>
          <p:cNvSpPr/>
          <p:nvPr/>
        </p:nvSpPr>
        <p:spPr>
          <a:xfrm>
            <a:off x="457200" y="4160520"/>
            <a:ext cx="822960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" y="41605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El techo lo pone el dataset, no el algoritmo: CV ROC-AUC 0.695 ± 0.002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 de 90 % no es útil con estos datos</a:t>
            </a:r>
            <a:endParaRPr lang="en-US" sz="2600" dirty="0"/>
          </a:p>
        </p:txBody>
      </p:sp>
      <p:pic>
        <p:nvPicPr>
          <p:cNvPr id="3" name="roc_pr" descr="/home/claude/tp1_thyroid/reports/figures/08_roc_p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5120640" cy="2213533"/>
          </a:xfrm>
          <a:prstGeom prst="rect">
            <a:avLst/>
          </a:prstGeom>
        </p:spPr>
      </p:pic>
      <p:graphicFrame>
        <p:nvGraphicFramePr>
          <p:cNvPr id="12" name="umbra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097280"/>
          <a:ext cx="28346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91440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Recall</a:t>
                      </a:r>
                      <a:endParaRPr lang="en-US" sz="13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2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Precisión</a:t>
                      </a:r>
                      <a:endParaRPr lang="en-US" sz="13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2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% marcados</a:t>
                      </a:r>
                      <a:endParaRPr lang="en-US" sz="13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2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0.45</a:t>
                      </a:r>
                      <a:endParaRPr lang="en-US" sz="13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0.70</a:t>
                      </a:r>
                      <a:endParaRPr lang="en-US" sz="13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15 %</a:t>
                      </a:r>
                      <a:endParaRPr lang="en-US" sz="13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0.60</a:t>
                      </a:r>
                      <a:endParaRPr lang="en-US" sz="13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0.38</a:t>
                      </a:r>
                      <a:endParaRPr lang="en-US" sz="13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37 %</a:t>
                      </a:r>
                      <a:endParaRPr lang="en-US" sz="13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0.80</a:t>
                      </a:r>
                      <a:endParaRPr lang="en-US" sz="13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0.27</a:t>
                      </a:r>
                      <a:endParaRPr lang="en-US" sz="13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68 %</a:t>
                      </a:r>
                      <a:endParaRPr lang="en-US" sz="13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0.90</a:t>
                      </a:r>
                      <a:endParaRPr lang="en-US" sz="13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0.25</a:t>
                      </a:r>
                      <a:endParaRPr lang="en-US" sz="13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84 %</a:t>
                      </a:r>
                      <a:endParaRPr lang="en-US" sz="1300" dirty="0"/>
                    </a:p>
                  </a:txBody>
                  <a:tcPr marL="45720" marR="45720" marT="45720" marB="45720">
                    <a:lnL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852160" y="288036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Métricas: recall (FN es el error más costoso), precisión (cada FP = estudio innecesario), PR-AUC (desbalance).</a:t>
            </a:r>
            <a:endParaRPr lang="en-US" sz="1200" dirty="0"/>
          </a:p>
        </p:txBody>
      </p:sp>
      <p:sp>
        <p:nvSpPr>
          <p:cNvPr id="6" name="takeaway"/>
          <p:cNvSpPr/>
          <p:nvPr/>
        </p:nvSpPr>
        <p:spPr>
          <a:xfrm>
            <a:off x="457200" y="4160520"/>
            <a:ext cx="822960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40080" y="41605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Con recall 90 % la precisión (0.25) casi iguala la prevalencia (0.23): replanteamos el criterio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Pendientes y plan hacia el TF1</a:t>
            </a:r>
            <a:endParaRPr lang="en-US" sz="2600" dirty="0"/>
          </a:p>
        </p:txBody>
      </p:sp>
      <p:sp>
        <p:nvSpPr>
          <p:cNvPr id="3" name="dot0"/>
          <p:cNvSpPr/>
          <p:nvPr/>
        </p:nvSpPr>
        <p:spPr>
          <a:xfrm>
            <a:off x="1188720" y="109728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8872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plan0"/>
          <p:cNvSpPr/>
          <p:nvPr/>
        </p:nvSpPr>
        <p:spPr>
          <a:xfrm>
            <a:off x="457200" y="1645920"/>
            <a:ext cx="187452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17373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Sem. 8–9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9659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Optuna + MLflow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3317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Ajuste de hiperparámetros y registro de experimentos</a:t>
            </a:r>
            <a:endParaRPr lang="en-US" sz="1200" dirty="0"/>
          </a:p>
        </p:txBody>
      </p:sp>
      <p:sp>
        <p:nvSpPr>
          <p:cNvPr id="9" name="dot1"/>
          <p:cNvSpPr/>
          <p:nvPr/>
        </p:nvSpPr>
        <p:spPr>
          <a:xfrm>
            <a:off x="3291840" y="109728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9184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plan1"/>
          <p:cNvSpPr/>
          <p:nvPr/>
        </p:nvSpPr>
        <p:spPr>
          <a:xfrm>
            <a:off x="2560320" y="1645920"/>
            <a:ext cx="187452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670048" y="17373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Sem. 10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670048" y="19659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Umbral por costo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70048" y="23317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Elegir umbral FN vs FP y calibrar probabilidades</a:t>
            </a:r>
            <a:endParaRPr lang="en-US" sz="1200" dirty="0"/>
          </a:p>
        </p:txBody>
      </p:sp>
      <p:sp>
        <p:nvSpPr>
          <p:cNvPr id="15" name="dot2"/>
          <p:cNvSpPr/>
          <p:nvPr/>
        </p:nvSpPr>
        <p:spPr>
          <a:xfrm>
            <a:off x="5394960" y="109728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39496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plan2"/>
          <p:cNvSpPr/>
          <p:nvPr/>
        </p:nvSpPr>
        <p:spPr>
          <a:xfrm>
            <a:off x="4663440" y="1645920"/>
            <a:ext cx="187452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73168" y="17373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Sem. 11–12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773168" y="19659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SHAP + errores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773168" y="23317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Explicaciones y análisis de falsos negativos; clustering de perfiles</a:t>
            </a:r>
            <a:endParaRPr lang="en-US" sz="1200" dirty="0"/>
          </a:p>
        </p:txBody>
      </p:sp>
      <p:sp>
        <p:nvSpPr>
          <p:cNvPr id="21" name="dot3"/>
          <p:cNvSpPr/>
          <p:nvPr/>
        </p:nvSpPr>
        <p:spPr>
          <a:xfrm>
            <a:off x="7498080" y="109728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9808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3" name="plan3"/>
          <p:cNvSpPr/>
          <p:nvPr/>
        </p:nvSpPr>
        <p:spPr>
          <a:xfrm>
            <a:off x="6766560" y="1645920"/>
            <a:ext cx="187452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76288" y="17373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Sem. 13–15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876288" y="19659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Test + Streamlit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876288" y="23317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Evaluación final única y demo de uso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33832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Limitaciones: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dataset sintético (sin validez externa), origen desconocido de Diagnosis y del puntaje de riesgo, faltan variables clínicas clave (TI-RADS, citología).</a:t>
            </a:r>
            <a:endParaRPr lang="en-US" sz="1300" dirty="0"/>
          </a:p>
        </p:txBody>
      </p:sp>
      <p:sp>
        <p:nvSpPr>
          <p:cNvPr id="28" name="takeaway"/>
          <p:cNvSpPr/>
          <p:nvPr/>
        </p:nvSpPr>
        <p:spPr>
          <a:xfrm>
            <a:off x="457200" y="4160520"/>
            <a:ext cx="822960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0080" y="41605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Hipótesis a verificar: Diagnosis se generó a partir del riesgo → techo de AUC ≈ 0.70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iroides TP1">
  <a:themeElements>
    <a:clrScheme name="Tiroides TP1">
      <a:dk1>
        <a:srgbClr val="1B1F2A"/>
      </a:dk1>
      <a:lt1>
        <a:srgbClr val="FFFFFF"/>
      </a:lt1>
      <a:dk2>
        <a:srgbClr val="14324A"/>
      </a:dk2>
      <a:lt2>
        <a:srgbClr val="EEF3F6"/>
      </a:lt2>
      <a:accent1>
        <a:srgbClr val="0F6E7A"/>
      </a:accent1>
      <a:accent2>
        <a:srgbClr val="EB6834"/>
      </a:accent2>
      <a:accent3>
        <a:srgbClr val="2A78D6"/>
      </a:accent3>
      <a:accent4>
        <a:srgbClr val="7A8B99"/>
      </a:accent4>
      <a:accent5>
        <a:srgbClr val="1BAF7A"/>
      </a:accent5>
      <a:accent6>
        <a:srgbClr val="C9D6DF"/>
      </a:accent6>
      <a:hlink>
        <a:srgbClr val="0F6E7A"/>
      </a:hlink>
      <a:folHlink>
        <a:srgbClr val="7A8B99"/>
      </a:folHlink>
    </a:clrScheme>
    <a:fontScheme name="Tiroides TP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TP1 – Predicción del diagnóstico de cáncer de tiroides</dc:title>
  <dc:subject>PptxGenJS Presentation</dc:subject>
  <dc:creator>Grupo 2 – CC209 Data Mining Tools</dc:creator>
  <cp:lastModifiedBy>Grupo 2 – CC209 Data Mining Tools</cp:lastModifiedBy>
  <cp:revision>1</cp:revision>
  <dcterms:created xsi:type="dcterms:W3CDTF">2026-10-05T12:48:55Z</dcterms:created>
  <dcterms:modified xsi:type="dcterms:W3CDTF">2026-10-05T12:48:55Z</dcterms:modified>
</cp:coreProperties>
</file>